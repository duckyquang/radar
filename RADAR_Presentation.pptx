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9B1B30"/>
                </a:solidFill>
                <a:latin typeface="Calibri"/>
              </a:defRPr>
            </a:pPr>
            <a:r>
              <a:t>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Racial And Demographic Analysis of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08080"/>
                </a:solidFill>
                <a:latin typeface="Calibri"/>
              </a:defRPr>
            </a:pPr>
            <a:r>
              <a:t>Systematic Evaluation of Demographic Representation</a:t>
            </a:r>
            <a:br/>
            <a:r>
              <a:t>in Clinical Practice Guidelines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5C5C"/>
                </a:solidFill>
                <a:latin typeface="Calibri"/>
              </a:defRPr>
            </a:pPr>
            <a:r>
              <a:t>MIT Critical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80"/>
                </a:solidFill>
                <a:latin typeface="Calibri"/>
              </a:defRPr>
            </a:pPr>
            <a:r>
              <a:t>Aly Dhedhi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Clinical guidelines shape patient care — but whose data are they based on?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Previous work: manual spreadsheet-based extraction of demographic data from cited studies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Limitations of manual approach: labor-intensive, error-prone, hard to scale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Goal: Automate extraction of geographic and demographic representation metrics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Evaluate 5 clinical guidelines across different societies and disease areas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  <a:latin typeface="Calibri"/>
              </a:defRPr>
            </a:pPr>
            <a:r>
              <a:t>Output: Bias score, demographic gaps, and actionable insights per guideline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The 5 Guidelines Under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914400"/>
                <a:gridCol w="5486400"/>
                <a:gridCol w="146304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Guideline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Society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DOI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Team Lead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Type 2 Diabetes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ADA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10.2337/dc25-S001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Obesity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AACE/ACE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10.4158/EP161365.GL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Thyroid Cancer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ATA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2015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10.1089/thy.2015.0020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Osteoporosis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AACE/ACE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10.4158/GL-2020-0524SUPPL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HCC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AASLD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10.1097/HEP.0000000000000466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The RADAR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1  Enter 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Paste any clinical guideline DOI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2  CrossRef Lookup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Fetch all cited references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0040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3  PubMed/PMC Enrichment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Extract demographics from full-text XML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4  Eligibility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Sample size, country, sex, race criteria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120640"/>
            <a:ext cx="10515600" cy="77724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5  Bias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C5C5C"/>
                </a:solidFill>
                <a:latin typeface="Calibri"/>
              </a:defRPr>
            </a:pPr>
            <a:r>
              <a:t>Compute bias score + interactive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C5C"/>
                </a:solidFill>
                <a:latin typeface="Calibri"/>
              </a:defRPr>
            </a:pPr>
            <a:r>
              <a:t>Technology: Python FastAPI | CrossRef API | NCBI E-utilities | PMC Open Access | Chart.js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371600"/>
                <a:gridCol w="1828800"/>
                <a:gridCol w="1828800"/>
                <a:gridCol w="2651760"/>
              </a:tblGrid>
              <a:tr h="6629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Guideline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Screened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Eligible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Participants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Race Reported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Bias Score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Diabetes 2025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129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928K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45.7%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63.0%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Obesity 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3.6M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Thyroid 2015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999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40.4M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82.3%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Osteoporosis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256K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78.8%</a:t>
                      </a:r>
                    </a:p>
                  </a:txBody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HCC 2023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318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14.5M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35.0%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1A"/>
                          </a:solidFill>
                        </a:defRPr>
                      </a:pPr>
                      <a:r>
                        <a:t>69.2%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461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10.2M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32.5%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62.1%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330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2.6M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22.5%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B1B30"/>
                          </a:solidFill>
                        </a:defRPr>
                      </a:pPr>
                      <a:r>
                        <a:t>74.0%</a:t>
                      </a:r>
                    </a:p>
                  </a:txBody>
                  <a:tcPr>
                    <a:solidFill>
                      <a:srgbClr val="F2D5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Bias Score: What USABLE vs NOT USABLE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5C5C"/>
                </a:solidFill>
                <a:latin typeface="Calibri"/>
              </a:defRPr>
            </a:pPr>
            <a:r>
              <a:t>The bias score (0–100%) measures how well a guideline’s cited studies report demographic data. Higher = more demographic data missing = less usable for diversity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74720" cy="41148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65F46"/>
                </a:solidFill>
                <a:latin typeface="Calibri"/>
              </a:defRPr>
            </a:pPr>
            <a:r>
              <a:t>USABLE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65F46"/>
                </a:solidFill>
                <a:latin typeface="Calibri"/>
              </a:defRPr>
            </a:pPr>
            <a:r>
              <a:t>Score: 0–29%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1A"/>
                </a:solidFill>
                <a:latin typeface="Calibri"/>
              </a:defRPr>
            </a:pPr>
            <a:r>
              <a:t>Adequate demographic reporting.</a:t>
            </a:r>
            <a:br/>
            <a:r>
              <a:t>Sex, race, and geographic data are</a:t>
            </a:r>
            <a:br/>
            <a:r>
              <a:t>sufficiently reported across studies.</a:t>
            </a:r>
            <a:br/>
            <a:r>
              <a:t>Proceed with diversity analysis.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828800"/>
            <a:ext cx="3474720" cy="41148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92400E"/>
                </a:solidFill>
                <a:latin typeface="Calibri"/>
              </a:defRPr>
            </a:pPr>
            <a:r>
              <a:t>QUESTIONABLE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2400E"/>
                </a:solidFill>
                <a:latin typeface="Calibri"/>
              </a:defRPr>
            </a:pPr>
            <a:r>
              <a:t>Score: 30–59%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1A"/>
                </a:solidFill>
                <a:latin typeface="Calibri"/>
              </a:defRPr>
            </a:pPr>
            <a:r>
              <a:t>Incomplete demographic reporting.</a:t>
            </a:r>
            <a:br/>
            <a:r>
              <a:t>Significant gaps in race, sex, or</a:t>
            </a:r>
            <a:br/>
            <a:r>
              <a:t>geographic data. Exercise caution</a:t>
            </a:r>
            <a:br/>
            <a:r>
              <a:t>when interpreting findings.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828800"/>
            <a:ext cx="3474720" cy="411480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991B1B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560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91B1B"/>
                </a:solidFill>
                <a:latin typeface="Calibri"/>
              </a:defRPr>
            </a:pPr>
            <a:r>
              <a:t>Score: 60–100%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0040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1A"/>
                </a:solidFill>
                <a:latin typeface="Calibri"/>
              </a:defRPr>
            </a:pPr>
            <a:r>
              <a:t>Inadequate demographic reporting.</a:t>
            </a:r>
            <a:br/>
            <a:r>
              <a:t>Critical data missing. Cannot reliably</a:t>
            </a:r>
            <a:br/>
            <a:r>
              <a:t>assess diversity. Do not use for</a:t>
            </a:r>
            <a:br/>
            <a:r>
              <a:t>diversity metrics.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C5C"/>
                </a:solidFill>
                <a:latin typeface="Calibri"/>
              </a:defRPr>
            </a:pPr>
            <a:r>
              <a:t>Scoring: Age missing (25%) + Sex missing (25%) + Race missing (30%) + Country missing (15%) + Geographic bias (5%)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ADA Diabetes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1. Improving Care and Promoting Health in Populations: Standards of Care in Diabetes—2025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927,752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63%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46%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Race Distribution (Mean 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2971800"/>
            <a:ext cx="2248052" cy="27432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71812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44.7%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3520440"/>
            <a:ext cx="960577" cy="274320"/>
          </a:xfrm>
          <a:prstGeom prst="rect">
            <a:avLst/>
          </a:prstGeom>
          <a:solidFill>
            <a:srgbClr val="DC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4337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19.1%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023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Hispanic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069080"/>
            <a:ext cx="88011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03870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17.5%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4617720"/>
            <a:ext cx="558241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82001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Other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5166360"/>
            <a:ext cx="2011680" cy="2743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5120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40.0%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AACE Obesity 2016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AACE/ACE Comprehensive Clinical Practice Guidelines for Medical Care of Patients with Obesity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248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3,559,937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96%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59%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Race Distribution (Mean 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2971800"/>
            <a:ext cx="3188512" cy="27432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12272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63.4%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3520440"/>
            <a:ext cx="824788" cy="274320"/>
          </a:xfrm>
          <a:prstGeom prst="rect">
            <a:avLst/>
          </a:prstGeom>
          <a:solidFill>
            <a:srgbClr val="DC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8548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023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Hispanic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069080"/>
            <a:ext cx="432511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56271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8.6%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4617720"/>
            <a:ext cx="895197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8957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17.8%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Other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5166360"/>
            <a:ext cx="311810" cy="2743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35570" y="5120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6.2%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ATA Thyroid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2015 American Thyroid Association Management Guidelines for Adult Patients with Thyroid Nodules and 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999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40,363,988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AACE Osteoporosis 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American Association of Clinical Endocrinologists/American College of Endocrinology Clinical Practic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343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256,055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79%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52%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Race Distribution (Mean 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2971800"/>
            <a:ext cx="4465929" cy="27432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89689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88.8%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3520440"/>
            <a:ext cx="2313432" cy="274320"/>
          </a:xfrm>
          <a:prstGeom prst="rect">
            <a:avLst/>
          </a:prstGeom>
          <a:solidFill>
            <a:srgbClr val="DC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7192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46.0%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023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Hispanic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069080"/>
            <a:ext cx="4797856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021616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95.4%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4617720"/>
            <a:ext cx="603504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1B30"/>
                </a:solidFill>
                <a:latin typeface="Calibri"/>
              </a:defRPr>
            </a:pPr>
            <a:r>
              <a:t>Results: AASLD HCC 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C5C"/>
                </a:solidFill>
                <a:latin typeface="Calibri"/>
              </a:defRPr>
            </a:pPr>
            <a:r>
              <a:t>AASLD Practice Guidance on prevention, diagnosis, and treatment of hepatocellular carcinoma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548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Screened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With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Eligible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14,542,003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69%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Demographic Reporting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83464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Sex Reported (both)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Any Race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USA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Calibri"/>
              </a:defRPr>
            </a:pPr>
            <a:r>
              <a:t>Race Distribution (Mean 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97480"/>
            <a:ext cx="4572000" cy="18288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White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2971800"/>
            <a:ext cx="2243023" cy="27432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6783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44.6%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3520440"/>
            <a:ext cx="950518" cy="274320"/>
          </a:xfrm>
          <a:prstGeom prst="rect">
            <a:avLst/>
          </a:prstGeom>
          <a:solidFill>
            <a:srgbClr val="DC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278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18.9%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023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Hispanic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069080"/>
            <a:ext cx="900226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3986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17.9%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Asian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4617720"/>
            <a:ext cx="900226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3986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17.9%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206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Other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5166360"/>
            <a:ext cx="1609344" cy="2743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33104" y="5120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C5C"/>
                </a:solidFill>
                <a:latin typeface="Calibri"/>
              </a:defRPr>
            </a:pPr>
            <a:r>
              <a:t>32.0%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Average bias score: 62.1% — most guidelines rated NOT USABLE for diversity analysis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Only 32.5% of eligible studies report any race/ethnicity data on average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ATA Thyroid 2015: 0% race reporting — publisher restricts PMC full-text access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ADA Diabetes 2025: best race reporting among auto-extracted (45.7%)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AACE Obesity 2016: 100% race reporting (manually curated — gold standard comparison)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Total participants across all guidelines: 60M+ — massive evidence base with minimal demographic data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  <a:latin typeface="Calibri"/>
              </a:defRPr>
            </a:pPr>
            <a:r>
              <a:t>Geographic bias: USA-centric (avg ~50-60% of studies from the 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303520"/>
            <a:ext cx="10515600" cy="109728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1A"/>
                </a:solidFill>
                <a:latin typeface="Calibri"/>
              </a:defRPr>
            </a:pPr>
            <a:r>
              <a:t>Verdict: 4 of 5 guidelines are NOT USABLE (&lt;30% race reporting). Only Obesity 2016 (manually curated) is USABLE.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Manual vs Automated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08080"/>
                </a:solidFill>
                <a:latin typeface="Calibri"/>
              </a:defRPr>
            </a:pPr>
            <a:r>
              <a:t>Previous Approach (Manual)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Parse guideline PDF manually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Look up each cited study one by one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Read full-text PDFs for each study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Manually extract demographics into spreadsheet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~40+ hours per guideline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Error-prone, hard to reproduce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Limited to small sample sizes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303520" cy="5029200"/>
          </a:xfrm>
          <a:prstGeom prst="rect">
            <a:avLst/>
          </a:prstGeom>
          <a:solidFill>
            <a:srgbClr val="F2D5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1B30"/>
                </a:solidFill>
                <a:latin typeface="Calibri"/>
              </a:defRPr>
            </a:pPr>
            <a:r>
              <a:t>RADAR (Automated)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Enter DOI → fully automated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CrossRef API fetches all references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PMC full-text XML parsed for demographics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NCBI E-utilities for PubMed enrichment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~2-4 minutes per guideline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Fully reproducible, consistent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Scales to 1000+ cited studies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B1B30"/>
                </a:solidFill>
                <a:latin typeface="Calibri"/>
              </a:defRPr>
            </a:pPr>
            <a:r>
              <a:t>Limitations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743200" cy="36576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08080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PMC full-text availability varies by publisher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Table formatting variability affects extraction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Race categories limited to 5 major groups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Abstract-only fallback has low demographic yield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1B3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6459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Add more guidelines across diverse specialties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Improve PMC table parsing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Add author demographic analysis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Deploy public API for research community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Longitudinal analysis of reporting trends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80808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5C5C"/>
                </a:solidFill>
                <a:latin typeface="Calibri"/>
              </a:defRPr>
            </a:pPr>
            <a:r>
              <a:t>RADAR — Racial And Demographic Analysis of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80"/>
                </a:solidFill>
                <a:latin typeface="Calibri"/>
              </a:defRPr>
            </a:pPr>
            <a:r>
              <a:t>https://github.com/duckyquang/RADAR  |  https://duckyquang.github.io/RADAR/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5C5C"/>
                </a:solidFill>
                <a:latin typeface="Calibri"/>
              </a:defRPr>
            </a:pPr>
            <a:r>
              <a:t>MIT Critical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