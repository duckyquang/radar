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9B1B30"/>
                </a:solidFill>
                <a:latin typeface="Calibri"/>
              </a:defRPr>
            </a:pPr>
            <a:r>
              <a:t>RADAR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Calibri"/>
              </a:defRPr>
            </a:pPr>
            <a:r>
              <a:t>Racial And Demographic Analysis of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08080"/>
                </a:solidFill>
                <a:latin typeface="Calibri"/>
              </a:defRPr>
            </a:pPr>
            <a:r>
              <a:t>Systematic Evaluation of Demographic Representation</a:t>
            </a:r>
            <a:br/>
            <a:r>
              <a:t>in Clinical Practice Guidelines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C5C5C"/>
                </a:solidFill>
                <a:latin typeface="Calibri"/>
              </a:defRPr>
            </a:pPr>
            <a:r>
              <a:t>MIT Critical Data | Dr. Leo Anthony Celi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08080"/>
                </a:solidFill>
                <a:latin typeface="Calibri"/>
              </a:defRPr>
            </a:pPr>
            <a:r>
              <a:t>Aly Dhedhi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Calibri"/>
              </a:defRPr>
            </a:pPr>
            <a:r>
              <a:t>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9B1B30"/>
                </a:solidFill>
                <a:latin typeface="Calibri"/>
              </a:defRPr>
            </a:pPr>
            <a:r>
              <a:t>Background &amp; Motivation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2743200" cy="36576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A1A1A"/>
                </a:solidFill>
                <a:latin typeface="Calibri"/>
              </a:defRPr>
            </a:pPr>
            <a:r>
              <a:t>Clinical guidelines shape patient care — but whose data are they based on?</a:t>
            </a:r>
          </a:p>
          <a:p>
            <a:pPr>
              <a:spcAft>
                <a:spcPts val="600"/>
              </a:spcAft>
              <a:defRPr sz="1800">
                <a:solidFill>
                  <a:srgbClr val="1A1A1A"/>
                </a:solidFill>
                <a:latin typeface="Calibri"/>
              </a:defRPr>
            </a:pPr>
            <a:r>
              <a:t>Previous work: manual spreadsheet-based extraction of demographic data from cited studies</a:t>
            </a:r>
          </a:p>
          <a:p>
            <a:pPr>
              <a:spcAft>
                <a:spcPts val="600"/>
              </a:spcAft>
              <a:defRPr sz="1800">
                <a:solidFill>
                  <a:srgbClr val="1A1A1A"/>
                </a:solidFill>
                <a:latin typeface="Calibri"/>
              </a:defRPr>
            </a:pPr>
            <a:r>
              <a:t>Limitations of manual approach: labor-intensive, error-prone, hard to scale</a:t>
            </a:r>
          </a:p>
          <a:p>
            <a:pPr>
              <a:spcAft>
                <a:spcPts val="600"/>
              </a:spcAft>
              <a:defRPr sz="1800">
                <a:solidFill>
                  <a:srgbClr val="1A1A1A"/>
                </a:solidFill>
                <a:latin typeface="Calibri"/>
              </a:defRPr>
            </a:pPr>
            <a:r>
              <a:t>Goal: Automate the extraction of geographic and demographic representation metrics</a:t>
            </a:r>
          </a:p>
          <a:p>
            <a:pPr>
              <a:spcAft>
                <a:spcPts val="600"/>
              </a:spcAft>
              <a:defRPr sz="1800">
                <a:solidFill>
                  <a:srgbClr val="1A1A1A"/>
                </a:solidFill>
                <a:latin typeface="Calibri"/>
              </a:defRPr>
            </a:pPr>
            <a:r>
              <a:t>Evaluate 5 clinical guidelines across different societies and disease areas</a:t>
            </a:r>
          </a:p>
          <a:p>
            <a:pPr>
              <a:spcAft>
                <a:spcPts val="600"/>
              </a:spcAft>
              <a:defRPr sz="1800">
                <a:solidFill>
                  <a:srgbClr val="1A1A1A"/>
                </a:solidFill>
                <a:latin typeface="Calibri"/>
              </a:defRPr>
            </a:pPr>
            <a:r>
              <a:t>Output: Bias score, demographic gaps, and actionable insights per guideline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Calibri"/>
              </a:defRPr>
            </a:pPr>
            <a: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9B1B30"/>
                </a:solidFill>
                <a:latin typeface="Calibri"/>
              </a:defRPr>
            </a:pPr>
            <a:r>
              <a:t>The 5 Guidelines Under 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2743200" cy="36576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371600"/>
                <a:gridCol w="914400"/>
                <a:gridCol w="5486400"/>
                <a:gridCol w="146304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Guideline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Society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Year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DOI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Team Lead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Type 2 Diabetes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ADA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2025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10.2337/dc25-S001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TBD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Obesity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AACE/ACE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10.4158/EP161365.GL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TBD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Thyroid Cancer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ATA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2015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10.1089/thy.2015.0020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TBD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Osteoporosis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AACE/ACE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10.4158/GL-2020-0524SUPPL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TBD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HCC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AASLD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2023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10.1097/HEP.0000000000000466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TBD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Calibri"/>
              </a:defRPr>
            </a:pPr>
            <a: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9B1B30"/>
                </a:solidFill>
                <a:latin typeface="Calibri"/>
              </a:defRPr>
            </a:pPr>
            <a:r>
              <a:t>The RADAR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2743200" cy="36576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515600" cy="77724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9B1B30"/>
                </a:solidFill>
                <a:latin typeface="Calibri"/>
              </a:defRPr>
            </a:pPr>
            <a:r>
              <a:t>1  Enter 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C5C5C"/>
                </a:solidFill>
                <a:latin typeface="Calibri"/>
              </a:defRPr>
            </a:pPr>
            <a:r>
              <a:t>Paste any clinical guideline DOI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515600" cy="77724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9B1B30"/>
                </a:solidFill>
                <a:latin typeface="Calibri"/>
              </a:defRPr>
            </a:pPr>
            <a:r>
              <a:t>2  CrossRef Lookup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51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C5C5C"/>
                </a:solidFill>
                <a:latin typeface="Calibri"/>
              </a:defRPr>
            </a:pPr>
            <a:r>
              <a:t>Fetch all cited references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200400"/>
            <a:ext cx="10515600" cy="77724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291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9B1B30"/>
                </a:solidFill>
                <a:latin typeface="Calibri"/>
              </a:defRPr>
            </a:pPr>
            <a:r>
              <a:t>3  PubMed/PMC Enrichment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118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C5C5C"/>
                </a:solidFill>
                <a:latin typeface="Calibri"/>
              </a:defRPr>
            </a:pPr>
            <a:r>
              <a:t>Extract demographics from full-text XML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60520"/>
            <a:ext cx="10515600" cy="77724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251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9B1B30"/>
                </a:solidFill>
                <a:latin typeface="Calibri"/>
              </a:defRPr>
            </a:pPr>
            <a:r>
              <a:t>4  Eligibility Checks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720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C5C5C"/>
                </a:solidFill>
                <a:latin typeface="Calibri"/>
              </a:defRPr>
            </a:pPr>
            <a:r>
              <a:t>Sample size, country, sex, race criteria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120640"/>
            <a:ext cx="10515600" cy="77724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212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9B1B30"/>
                </a:solidFill>
                <a:latin typeface="Calibri"/>
              </a:defRPr>
            </a:pPr>
            <a:r>
              <a:t>5  Bias Assessment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5321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C5C5C"/>
                </a:solidFill>
                <a:latin typeface="Calibri"/>
              </a:defRPr>
            </a:pPr>
            <a:r>
              <a:t>Compute bias score + interactive dashboard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217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C5C5C"/>
                </a:solidFill>
                <a:latin typeface="Calibri"/>
              </a:defRPr>
            </a:pPr>
            <a:r>
              <a:t>Technology: Python FastAPI | CrossRef API | NCBI E-utilities | PMC Open Access | Chart.js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Calibri"/>
              </a:defRPr>
            </a:pPr>
            <a: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9B1B30"/>
                </a:solidFill>
                <a:latin typeface="Calibri"/>
              </a:defRPr>
            </a:pPr>
            <a:r>
              <a:t>Results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2743200" cy="36576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1161288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371600"/>
                <a:gridCol w="1371600"/>
                <a:gridCol w="1828800"/>
                <a:gridCol w="1828800"/>
                <a:gridCol w="2651760"/>
              </a:tblGrid>
              <a:tr h="6629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Guideline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Screened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Eligible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Participants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Race Reported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Bias Score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Diabetes 2025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129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35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928K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45.7%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63.0%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Obesity 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205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3.6M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66294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Thyroid 2015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999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42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40.4M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82.3%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Osteoporosis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343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256K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78.8%</a:t>
                      </a:r>
                    </a:p>
                  </a:txBody>
                  <a:tcPr/>
                </a:tc>
              </a:tr>
              <a:tr h="66294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HCC 2023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318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60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14.5M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35.0%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69.2%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B1B30"/>
                          </a:solidFill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F2D5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B1B30"/>
                          </a:solidFill>
                        </a:defRPr>
                      </a:pPr>
                      <a:r>
                        <a:t>461</a:t>
                      </a:r>
                    </a:p>
                  </a:txBody>
                  <a:tcPr>
                    <a:solidFill>
                      <a:srgbClr val="F2D5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B1B30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>
                    <a:solidFill>
                      <a:srgbClr val="F2D5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B1B30"/>
                          </a:solidFill>
                        </a:defRPr>
                      </a:pPr>
                      <a:r>
                        <a:t>10.2M</a:t>
                      </a:r>
                    </a:p>
                  </a:txBody>
                  <a:tcPr>
                    <a:solidFill>
                      <a:srgbClr val="F2D5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B1B30"/>
                          </a:solidFill>
                        </a:defRPr>
                      </a:pPr>
                      <a:r>
                        <a:t>32.5%</a:t>
                      </a:r>
                    </a:p>
                  </a:txBody>
                  <a:tcPr>
                    <a:solidFill>
                      <a:srgbClr val="F2D5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B1B30"/>
                          </a:solidFill>
                        </a:defRPr>
                      </a:pPr>
                      <a:r>
                        <a:t>62.1%</a:t>
                      </a:r>
                    </a:p>
                  </a:txBody>
                  <a:tcPr>
                    <a:solidFill>
                      <a:srgbClr val="F2D5DA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B1B30"/>
                          </a:solidFill>
                        </a:defRPr>
                      </a:pPr>
                      <a:r>
                        <a:t>MEDIAN</a:t>
                      </a:r>
                    </a:p>
                  </a:txBody>
                  <a:tcPr>
                    <a:solidFill>
                      <a:srgbClr val="F2D5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B1B30"/>
                          </a:solidFill>
                        </a:defRPr>
                      </a:pPr>
                      <a:r>
                        <a:t>330</a:t>
                      </a:r>
                    </a:p>
                  </a:txBody>
                  <a:tcPr>
                    <a:solidFill>
                      <a:srgbClr val="F2D5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B1B30"/>
                          </a:solidFill>
                        </a:defRPr>
                      </a:pPr>
                      <a:r>
                        <a:t>41</a:t>
                      </a:r>
                    </a:p>
                  </a:txBody>
                  <a:tcPr>
                    <a:solidFill>
                      <a:srgbClr val="F2D5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B1B30"/>
                          </a:solidFill>
                        </a:defRPr>
                      </a:pPr>
                      <a:r>
                        <a:t>2.6M</a:t>
                      </a:r>
                    </a:p>
                  </a:txBody>
                  <a:tcPr>
                    <a:solidFill>
                      <a:srgbClr val="F2D5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B1B30"/>
                          </a:solidFill>
                        </a:defRPr>
                      </a:pPr>
                      <a:r>
                        <a:t>22.5%</a:t>
                      </a:r>
                    </a:p>
                  </a:txBody>
                  <a:tcPr>
                    <a:solidFill>
                      <a:srgbClr val="F2D5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B1B30"/>
                          </a:solidFill>
                        </a:defRPr>
                      </a:pPr>
                      <a:r>
                        <a:t>74.0%</a:t>
                      </a:r>
                    </a:p>
                  </a:txBody>
                  <a:tcPr>
                    <a:solidFill>
                      <a:srgbClr val="F2D5D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Calibri"/>
              </a:defRPr>
            </a:pPr>
            <a: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9B1B30"/>
                </a:solidFill>
                <a:latin typeface="Calibri"/>
              </a:defRPr>
            </a:pPr>
            <a:r>
              <a:t>Results: ADA Diabetes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C5C5C"/>
                </a:solidFill>
                <a:latin typeface="Calibri"/>
              </a:defRPr>
            </a:pPr>
            <a:r>
              <a:t>1. Improving Care and Promoting Health in Populations: Standards of Care in Diabetes—2025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548640"/>
            <a:ext cx="1828800" cy="4572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548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NOT USABLE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Screened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129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With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Eligible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Participants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927,752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Bias 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63%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B1B30"/>
                </a:solidFill>
                <a:latin typeface="Calibri"/>
              </a:defRPr>
            </a:pPr>
            <a:r>
              <a:t>Demographic Reporting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697480"/>
            <a:ext cx="4572000" cy="18288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2834640"/>
          <a:ext cx="5029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%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Sex Reported (both)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37%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Any Race Reported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46%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USA Studies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23%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943600" y="2286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B1B30"/>
                </a:solidFill>
                <a:latin typeface="Calibri"/>
              </a:defRPr>
            </a:pPr>
            <a:r>
              <a:t>Race Distribution (Mean 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2697480"/>
            <a:ext cx="4572000" cy="18288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0" y="2926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White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0" y="2971800"/>
            <a:ext cx="2248052" cy="27432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71812" y="2926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44.7%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4747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Black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0" y="3520440"/>
            <a:ext cx="960577" cy="274320"/>
          </a:xfrm>
          <a:prstGeom prst="rect">
            <a:avLst/>
          </a:prstGeom>
          <a:solidFill>
            <a:srgbClr val="DC1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84337" y="34747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19.1%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4023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Hispanic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0" y="4069080"/>
            <a:ext cx="88011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03870" y="4023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17.5%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5720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Asian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0" y="4617720"/>
            <a:ext cx="558241" cy="27432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82001" y="45720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11.1%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51206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Other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5166360"/>
            <a:ext cx="2011680" cy="27432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35440" y="51206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40.0%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493776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C5C"/>
                </a:solidFill>
                <a:latin typeface="Calibri"/>
              </a:defRPr>
            </a:pPr>
            <a:r>
              <a:t>CLINICAL BIAS ASSESSMENT REPORT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Calibri"/>
              </a:defRPr>
            </a:pPr>
            <a: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9B1B30"/>
                </a:solidFill>
                <a:latin typeface="Calibri"/>
              </a:defRPr>
            </a:pPr>
            <a:r>
              <a:t>Results: AACE Obesity 2016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C5C5C"/>
                </a:solidFill>
                <a:latin typeface="Calibri"/>
              </a:defRPr>
            </a:pPr>
            <a:r>
              <a:t>AACE/ACE Comprehensive Clinical Practice Guidelines for Medical Care of Patients with Obesity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548640"/>
            <a:ext cx="1828800" cy="45720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548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USABLE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Screened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205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With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248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Eligible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54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Participants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3,559,937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Bias 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B1B30"/>
                </a:solidFill>
                <a:latin typeface="Calibri"/>
              </a:defRPr>
            </a:pPr>
            <a:r>
              <a:t>Demographic Reporting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697480"/>
            <a:ext cx="4572000" cy="18288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2834640"/>
          <a:ext cx="5029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%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Sex Reported (both)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96%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Any Race Reported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USA Studies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59%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943600" y="2286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B1B30"/>
                </a:solidFill>
                <a:latin typeface="Calibri"/>
              </a:defRPr>
            </a:pPr>
            <a:r>
              <a:t>Race Distribution (Mean 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2697480"/>
            <a:ext cx="4572000" cy="18288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0" y="2926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White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0" y="2971800"/>
            <a:ext cx="3188512" cy="27432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12272" y="2926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63.4%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4747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Black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0" y="3520440"/>
            <a:ext cx="824788" cy="274320"/>
          </a:xfrm>
          <a:prstGeom prst="rect">
            <a:avLst/>
          </a:prstGeom>
          <a:solidFill>
            <a:srgbClr val="DC1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8548" y="34747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16.4%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4023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Hispanic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0" y="4069080"/>
            <a:ext cx="432511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56271" y="4023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8.6%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5720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Asian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0" y="4617720"/>
            <a:ext cx="895197" cy="27432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18957" y="45720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17.8%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51206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Other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5166360"/>
            <a:ext cx="311810" cy="27432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35570" y="51206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6.2%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493776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C5C"/>
                </a:solidFill>
                <a:latin typeface="Calibri"/>
              </a:defRPr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Calibri"/>
              </a:defRPr>
            </a:pPr>
            <a: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9B1B30"/>
                </a:solidFill>
                <a:latin typeface="Calibri"/>
              </a:defRPr>
            </a:pPr>
            <a:r>
              <a:t>Results: ATA Thyroid 2015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C5C5C"/>
                </a:solidFill>
                <a:latin typeface="Calibri"/>
              </a:defRPr>
            </a:pPr>
            <a:r>
              <a:t>2015 American Thyroid Association Management Guidelines for Adult Patients with Thyroid Nodules and 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548640"/>
            <a:ext cx="1828800" cy="4572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548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NOT USABLE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Screened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999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With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Eligible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Participants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40,363,988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Bias 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82%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B1B30"/>
                </a:solidFill>
                <a:latin typeface="Calibri"/>
              </a:defRPr>
            </a:pPr>
            <a:r>
              <a:t>Demographic Reporting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697480"/>
            <a:ext cx="4572000" cy="18288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2834640"/>
          <a:ext cx="5029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%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Sex Reported (both)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Any Race Reported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0%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USA Studies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457200" y="493776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C5C"/>
                </a:solidFill>
                <a:latin typeface="Calibri"/>
              </a:defRPr>
            </a:pPr>
            <a:r>
              <a:t>CLINICAL BIAS ASSESSMENT 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Calibri"/>
              </a:defRPr>
            </a:pPr>
            <a: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9B1B30"/>
                </a:solidFill>
                <a:latin typeface="Calibri"/>
              </a:defRPr>
            </a:pPr>
            <a:r>
              <a:t>Results: AACE Osteoporosis 2020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C5C5C"/>
                </a:solidFill>
                <a:latin typeface="Calibri"/>
              </a:defRPr>
            </a:pPr>
            <a:r>
              <a:t>American Association of Clinical Endocrinologists/American College of Endocrinology Clinical Practic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548640"/>
            <a:ext cx="1828800" cy="4572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548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NOT USABLE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Screened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343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With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Eligible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Participants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256,055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Bias 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79%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B1B30"/>
                </a:solidFill>
                <a:latin typeface="Calibri"/>
              </a:defRPr>
            </a:pPr>
            <a:r>
              <a:t>Demographic Reporting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697480"/>
            <a:ext cx="4572000" cy="18288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2834640"/>
          <a:ext cx="5029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%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Sex Reported (both)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4%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Any Race Reported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4%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USA Studies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52%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943600" y="2286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B1B30"/>
                </a:solidFill>
                <a:latin typeface="Calibri"/>
              </a:defRPr>
            </a:pPr>
            <a:r>
              <a:t>Race Distribution (Mean 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2697480"/>
            <a:ext cx="4572000" cy="18288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0" y="2926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White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0" y="2971800"/>
            <a:ext cx="4465929" cy="27432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89689" y="2926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88.8%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4747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Black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0" y="3520440"/>
            <a:ext cx="2313432" cy="274320"/>
          </a:xfrm>
          <a:prstGeom prst="rect">
            <a:avLst/>
          </a:prstGeom>
          <a:solidFill>
            <a:srgbClr val="DC1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37192" y="34747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46.0%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4023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Hispanic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0" y="4069080"/>
            <a:ext cx="4797856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021616" y="4023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95.4%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5720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Asian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0" y="4617720"/>
            <a:ext cx="603504" cy="27432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27264" y="45720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12.0%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93776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C5C"/>
                </a:solidFill>
                <a:latin typeface="Calibri"/>
              </a:defRPr>
            </a:pPr>
            <a:r>
              <a:t>CLINICAL BIAS ASSESSMENT REPORT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Calibri"/>
              </a:defRPr>
            </a:pPr>
            <a: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9B1B30"/>
                </a:solidFill>
                <a:latin typeface="Calibri"/>
              </a:defRPr>
            </a:pPr>
            <a:r>
              <a:t>Results: AASLD HCC 2023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C5C5C"/>
                </a:solidFill>
                <a:latin typeface="Calibri"/>
              </a:defRPr>
            </a:pPr>
            <a:r>
              <a:t>AASLD Practice Guidance on prevention, diagnosis, and treatment of hepatocellular carcinoma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548640"/>
            <a:ext cx="1828800" cy="4572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548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NOT USABLE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Screened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318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With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Eligible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Participants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14,542,003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Bias 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69%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B1B30"/>
                </a:solidFill>
                <a:latin typeface="Calibri"/>
              </a:defRPr>
            </a:pPr>
            <a:r>
              <a:t>Demographic Reporting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697480"/>
            <a:ext cx="4572000" cy="18288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2834640"/>
          <a:ext cx="5029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%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Sex Reported (both)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10%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Any Race Reported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35%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USA Studies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37%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943600" y="2286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B1B30"/>
                </a:solidFill>
                <a:latin typeface="Calibri"/>
              </a:defRPr>
            </a:pPr>
            <a:r>
              <a:t>Race Distribution (Mean 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2697480"/>
            <a:ext cx="4572000" cy="18288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0" y="2926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White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0" y="2971800"/>
            <a:ext cx="2243023" cy="27432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66783" y="2926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44.6%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4747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Black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0" y="3520440"/>
            <a:ext cx="950518" cy="274320"/>
          </a:xfrm>
          <a:prstGeom prst="rect">
            <a:avLst/>
          </a:prstGeom>
          <a:solidFill>
            <a:srgbClr val="DC1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74278" y="34747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18.9%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4023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Hispanic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0" y="4069080"/>
            <a:ext cx="900226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23986" y="4023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17.9%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5720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Asian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0" y="4617720"/>
            <a:ext cx="900226" cy="27432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23986" y="45720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17.9%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51206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Other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5166360"/>
            <a:ext cx="1609344" cy="27432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33104" y="51206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32.0%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493776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C5C"/>
                </a:solidFill>
                <a:latin typeface="Calibri"/>
              </a:defRPr>
            </a:pPr>
            <a:r>
              <a:t>CLINICAL BIAS ASSESSMENT REPORT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Calibri"/>
              </a:defRPr>
            </a:pPr>
            <a: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9B1B30"/>
                </a:solidFill>
                <a:latin typeface="Calibri"/>
              </a:defRPr>
            </a:pPr>
            <a:r>
              <a:t>Key Findings Across All 5 Guidelines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2743200" cy="36576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  <a:latin typeface="Calibri"/>
              </a:defRPr>
            </a:pPr>
            <a:r>
              <a:t>Average bias score: 62.1% — most guidelines have inadequate demographic reporting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  <a:latin typeface="Calibri"/>
              </a:defRPr>
            </a:pPr>
            <a:r>
              <a:t>Only 32.5% of eligible studies report any race/ethnicity data on average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  <a:latin typeface="Calibri"/>
              </a:defRPr>
            </a:pPr>
            <a:r>
              <a:t>ATA Thyroid 2015: 0% race reporting — publisher restricts PMC full-text access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  <a:latin typeface="Calibri"/>
              </a:defRPr>
            </a:pPr>
            <a:r>
              <a:t>ADA Diabetes 2025: best race reporting among auto-extracted (45.7%)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  <a:latin typeface="Calibri"/>
              </a:defRPr>
            </a:pPr>
            <a:r>
              <a:t>AACE Obesity 2016: 100% race reporting (manually curated — gold standard comparison)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  <a:latin typeface="Calibri"/>
              </a:defRPr>
            </a:pPr>
            <a:r>
              <a:t>Total participants across all guidelines: 60M+ — massive evidence base with minimal demographic data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  <a:latin typeface="Calibri"/>
              </a:defRPr>
            </a:pPr>
            <a:r>
              <a:t>Sex reporting (both M+F): higher than race but still incomplete in most guidelines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  <a:latin typeface="Calibri"/>
              </a:defRPr>
            </a:pPr>
            <a:r>
              <a:t>Geographic bias: USA-centric across all guidelines (avg ~50-60% USA studies)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Calibri"/>
              </a:defRPr>
            </a:pPr>
            <a: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9B1B30"/>
                </a:solidFill>
                <a:latin typeface="Calibri"/>
              </a:defRPr>
            </a:pPr>
            <a:r>
              <a:t>Comparison: Manual vs Automated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2743200" cy="36576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303520" cy="50292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08080"/>
                </a:solidFill>
                <a:latin typeface="Calibri"/>
              </a:defRPr>
            </a:pPr>
            <a:r>
              <a:t>Previous Approach (Manual)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Parse guideline PDF manually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Look up each cited study one by one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Read full-text PDFs for each study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Manually extract demographics into spreadsheet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~40+ hours per guideline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Error-prone, hard to reproduce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Limited to small sample sizes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188720"/>
            <a:ext cx="5303520" cy="5029200"/>
          </a:xfrm>
          <a:prstGeom prst="rect">
            <a:avLst/>
          </a:prstGeom>
          <a:solidFill>
            <a:srgbClr val="F2D5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3716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9B1B30"/>
                </a:solidFill>
                <a:latin typeface="Calibri"/>
              </a:defRPr>
            </a:pPr>
            <a:r>
              <a:t>RADAR (Automated)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Enter DOI → fully automated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CrossRef API fetches all references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PMC full-text XML parsed for demographics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NCBI E-utilities for PubMed enrichment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~2-4 minutes per guideline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Fully reproducible, consistent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Scales to 1000+ cited studies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Calibri"/>
              </a:defRPr>
            </a:pPr>
            <a: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9B1B30"/>
                </a:solidFill>
                <a:latin typeface="Calibri"/>
              </a:defRPr>
            </a:pPr>
            <a:r>
              <a:t>Limitations &amp;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2743200" cy="36576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808080"/>
                </a:solidFill>
                <a:latin typeface="Calibri"/>
              </a:defRPr>
            </a:pPr>
            <a:r>
              <a:t>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PMC full-text availability: publishers restrict access (Wolters Kluwer, Mary Ann Liebert) → 0% race data for ATA Thyroid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Demographic extraction from XML text limited by table formatting variability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Race categories standardized to 5 major groups — may miss granular ethnicity data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Abstract-only fallback has low demographic yield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CrossRef reference quality varies by publisher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9B1B30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645920"/>
            <a:ext cx="5760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Add more guidelines across diverse specialties &amp; publishers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Improve PMC table extraction with structural table parsing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Add author demographic analysis (gender, geographic diversity of authors)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Deploy public API for live interactive use by research community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Integrate manual verification step for high-confidence results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Expand race categories to match local/regional reporting standards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Longitudinal analysis: track demographic reporting trends over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Calibri"/>
              </a:defRPr>
            </a:pPr>
            <a: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808080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C5C5C"/>
                </a:solidFill>
                <a:latin typeface="Calibri"/>
              </a:defRPr>
            </a:pPr>
            <a:r>
              <a:t>RADAR — Racial And Demographic Analysis of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08080"/>
                </a:solidFill>
                <a:latin typeface="Calibri"/>
              </a:defRPr>
            </a:pPr>
            <a:r>
              <a:t>https://github.com/duckyquang/RADAR  |  https://duckyquang.github.io/RADAR/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C5C5C"/>
                </a:solidFill>
                <a:latin typeface="Calibri"/>
              </a:defRPr>
            </a:pPr>
            <a:r>
              <a:t>MIT Critical Data — Dr. Leo Anthony Celi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Calibri"/>
              </a:defRPr>
            </a:pPr>
            <a: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